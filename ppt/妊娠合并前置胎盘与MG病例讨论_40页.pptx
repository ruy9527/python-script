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" Type="http://schemas.openxmlformats.org/officeDocument/2006/relationships/viewProps" Target="viewProps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一例妊娠合并完全性前置胎盘</a:t>
            </a:r>
          </a:p>
          <a:p>
            <a:r>
              <a:t>伴重症肌无力的疑难病例讨论 [cite: 1]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主讲人：李雯婷 | 2025-10-26 [cite: 2, 3]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引言：高风险的碰撞 [cite: 4]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当产科最凶险的并发症遇上神经内科棘手的自身免疫病 [cite: 4]</a:t>
            </a:r>
          </a:p>
          <a:p>
            <a:pPr>
              <a:spcAft>
                <a:spcPts val="1200"/>
              </a:spcAft>
              <a:defRPr sz="1800"/>
            </a:pPr>
            <a:r>
              <a:t>我们的应对策略与思考 [cite: 5]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汇报目录 [cite: 6]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01 相关知识 [cite: 8]</a:t>
            </a:r>
          </a:p>
          <a:p>
            <a:pPr>
              <a:spcAft>
                <a:spcPts val="1200"/>
              </a:spcAft>
              <a:defRPr sz="1800"/>
            </a:pPr>
            <a:r>
              <a:t>02 病例信息 [cite: 9]</a:t>
            </a:r>
          </a:p>
          <a:p>
            <a:pPr>
              <a:spcAft>
                <a:spcPts val="1200"/>
              </a:spcAft>
              <a:defRPr sz="1800"/>
            </a:pPr>
            <a:r>
              <a:t>03 相关护理 [cite: 10]</a:t>
            </a:r>
          </a:p>
          <a:p>
            <a:pPr>
              <a:spcAft>
                <a:spcPts val="1200"/>
              </a:spcAft>
              <a:defRPr sz="1800"/>
            </a:pPr>
            <a:r>
              <a:t>04 病例讨论 [cite: 11]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MDT 多学科团队协作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产科、神经内科、麻醉科 [cite: 139, 142]</a:t>
            </a:r>
          </a:p>
          <a:p>
            <a:pPr>
              <a:spcAft>
                <a:spcPts val="1200"/>
              </a:spcAft>
              <a:defRPr sz="1800"/>
            </a:pPr>
            <a:r>
              <a:t>风湿免疫科、神经外科、ICU [cite: 148, 153, 184]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重症肌无力 (MG) 定义 [cite: 17]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自身抗体介导、T 淋巴细胞辅助、补体参与 [cite: 17]</a:t>
            </a:r>
          </a:p>
          <a:p>
            <a:pPr>
              <a:spcAft>
                <a:spcPts val="1200"/>
              </a:spcAft>
              <a:defRPr sz="1800"/>
            </a:pPr>
            <a:r>
              <a:t>骨骼肌波动性无力为主要表现 [cite: 17]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MG 常见症状表现 [cite: 12]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乏力、复视 [cite: 12]</a:t>
            </a:r>
          </a:p>
          <a:p>
            <a:pPr>
              <a:spcAft>
                <a:spcPts val="1200"/>
              </a:spcAft>
              <a:defRPr sz="1800"/>
            </a:pPr>
            <a:r>
              <a:t>眼睑下垂、呼吸困难、吞咽困难 [cite: 12]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MG 的治疗矩阵 [cite: 18-24]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胆碱酯酶抑制剂、血浆置换 [cite: 18, 20]</a:t>
            </a:r>
          </a:p>
          <a:p>
            <a:pPr>
              <a:spcAft>
                <a:spcPts val="1200"/>
              </a:spcAft>
              <a:defRPr sz="1800"/>
            </a:pPr>
            <a:r>
              <a:t>免疫抑制剂、静注免疫球蛋白 [cite: 21, 22]</a:t>
            </a:r>
          </a:p>
          <a:p>
            <a:pPr>
              <a:spcAft>
                <a:spcPts val="1200"/>
              </a:spcAft>
              <a:defRPr sz="1800"/>
            </a:pPr>
            <a:r>
              <a:t>糖皮质激素、胸腺切除术 [cite: 23, 24]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胎盘植入谱系疾病 (PAS) [cite: 32]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胎盘绒毛不同程度粘附或侵入子宫肌层 [cite: 32]</a:t>
            </a:r>
          </a:p>
          <a:p>
            <a:pPr>
              <a:spcAft>
                <a:spcPts val="1200"/>
              </a:spcAft>
              <a:defRPr sz="1800"/>
            </a:pPr>
            <a:r>
              <a:t>严重母体并发症之一 [cite: 32]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PAS 的病理分类 [cite: 34-37]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1. 胎盘粘连 [cite: 35]</a:t>
            </a:r>
          </a:p>
          <a:p>
            <a:pPr>
              <a:spcAft>
                <a:spcPts val="1200"/>
              </a:spcAft>
              <a:defRPr sz="1800"/>
            </a:pPr>
            <a:r>
              <a:t>2. 胎盘植入 [cite: 36]</a:t>
            </a:r>
          </a:p>
          <a:p>
            <a:pPr>
              <a:spcAft>
                <a:spcPts val="1200"/>
              </a:spcAft>
              <a:defRPr sz="1800"/>
            </a:pPr>
            <a:r>
              <a:t>3. 穿透性胎盘植入 [cite: 37]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前置胎盘的临床意义 [cite: 38]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妊娠28周后位置低于胎先露部 [cite: 38]</a:t>
            </a:r>
          </a:p>
          <a:p>
            <a:pPr>
              <a:spcAft>
                <a:spcPts val="1200"/>
              </a:spcAft>
              <a:defRPr sz="1800"/>
            </a:pPr>
            <a:r>
              <a:t>阴道出血主因，增加PAS发生风险 [cite: 38]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MG 与妊娠的相互影响 [cite: 44, 45]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20-45岁女性高发，正值生育年龄 [cite: 46]</a:t>
            </a:r>
          </a:p>
          <a:p>
            <a:pPr>
              <a:spcAft>
                <a:spcPts val="1200"/>
              </a:spcAft>
              <a:defRPr sz="1800"/>
            </a:pPr>
            <a:r>
              <a:t>妊娠/分娩可能诱发病情波动 [cite: 49]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MG 妊娠转归结局 [cite: 48-52]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病情可能出现：稳定、改善或恶化 [cite: 50, 51, 52]</a:t>
            </a:r>
          </a:p>
          <a:p>
            <a:pPr>
              <a:spcAft>
                <a:spcPts val="1200"/>
              </a:spcAft>
              <a:defRPr sz="1800"/>
            </a:pPr>
            <a:r>
              <a:t>需关注抗体类型与病情控制 [cite: 45]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患者基本资料 [cite: 60-66]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姓名：韦某某 | 年龄：37岁 [cite: 62, 64]</a:t>
            </a:r>
          </a:p>
          <a:p>
            <a:pPr>
              <a:spcAft>
                <a:spcPts val="1200"/>
              </a:spcAft>
              <a:defRPr sz="1800"/>
            </a:pPr>
            <a:r>
              <a:t>主诉：35+5周发现前置胎盘伴植入5月余 [cite: 68]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入院主要诊断 [cite: 69-78]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1. 完全性前置胎盘伴胎盘植入 [cite: 70]</a:t>
            </a:r>
          </a:p>
          <a:p>
            <a:pPr>
              <a:spcAft>
                <a:spcPts val="1200"/>
              </a:spcAft>
              <a:defRPr sz="1800"/>
            </a:pPr>
            <a:r>
              <a:t>2. 重症肌无力、系统性硬化症 [cite: 74, 75]</a:t>
            </a:r>
          </a:p>
          <a:p>
            <a:pPr>
              <a:spcAft>
                <a:spcPts val="1200"/>
              </a:spcAft>
              <a:defRPr sz="1800"/>
            </a:pPr>
            <a:r>
              <a:t>3. 疤痕子宫、脐带绕颈 [cite: 72, 73]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既往史：系统性硬化症 [cite: 84, 85]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病史4年，规律服用甲泼尼龙 4mg qd [cite: 85]</a:t>
            </a:r>
          </a:p>
          <a:p>
            <a:pPr>
              <a:spcAft>
                <a:spcPts val="1200"/>
              </a:spcAft>
              <a:defRPr sz="1800"/>
            </a:pPr>
            <a:r>
              <a:t>辅助服用钙剂、维生素E/D [cite: 85]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既往史：重症肌无力 [cite: 86]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病史4年，规律服用他克莫司 1mg bid [cite: 86]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生育及手术史 [cite: 87-91]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异位妊娠切除术(2012)、剖宫产术(2014) [cite: 87, 88]</a:t>
            </a:r>
          </a:p>
          <a:p>
            <a:pPr>
              <a:spcAft>
                <a:spcPts val="1200"/>
              </a:spcAft>
              <a:defRPr sz="1800"/>
            </a:pPr>
            <a:r>
              <a:t>人流术(2018)、宫腔镜手术(2022) [cite: 89, 90]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入院体格检查 [cite: 97-102]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T:36.6℃, P:97次/分, BP:111/72mmHg [cite: 100]</a:t>
            </a:r>
          </a:p>
          <a:p>
            <a:pPr>
              <a:spcAft>
                <a:spcPts val="1200"/>
              </a:spcAft>
              <a:defRPr sz="1800"/>
            </a:pPr>
            <a:r>
              <a:t>宫高33cm，胎心136次/分，无宫缩 [cite: 102]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影像学检查 (MRI/超声) [cite: 106, 129, 132]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MRI: 晚孕、头位，考虑完全性前置胎盘并植入 [cite: 106]</a:t>
            </a:r>
          </a:p>
          <a:p>
            <a:pPr>
              <a:spcAft>
                <a:spcPts val="1200"/>
              </a:spcAft>
              <a:defRPr sz="1800"/>
            </a:pPr>
            <a:r>
              <a:t>胎盘绒毛间隙狭窄，绒毛粘连 [cite: 131]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实验室异常指标 [cite: 112-126]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血红蛋白: 101g/L (降低) [cite: 119]</a:t>
            </a:r>
          </a:p>
          <a:p>
            <a:pPr>
              <a:spcAft>
                <a:spcPts val="1200"/>
              </a:spcAft>
              <a:defRPr sz="1800"/>
            </a:pPr>
            <a:r>
              <a:t>白蛋白: 24.7g/L (明显降低) [cite: 125, 126]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MDT 意见：神内与麻醉 [cite: 138-142]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神内：关注麻醉镇静药，防范肌无力危象 [cite: 139]</a:t>
            </a:r>
          </a:p>
          <a:p>
            <a:pPr>
              <a:spcAft>
                <a:spcPts val="1200"/>
              </a:spcAft>
              <a:defRPr sz="1800"/>
            </a:pPr>
            <a:r>
              <a:t>麻醉：备血、有创压监测、ICU备床 [cite: 142]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主要用药方案 [cite: 154-172]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免疫调节：他克莫司、甲泼尼龙 [cite: 161, 169]</a:t>
            </a:r>
          </a:p>
          <a:p>
            <a:pPr>
              <a:spcAft>
                <a:spcPts val="1200"/>
              </a:spcAft>
              <a:defRPr sz="1800"/>
            </a:pPr>
            <a:r>
              <a:t>预防支持：依诺肝素钠、钙片/维D [cite: 163, 171]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住院时间轴经过 [cite: 173-189]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10-13 入院 -&gt; 10-15 MDT会诊 -&gt; 10-16 手术 [cite: 178-185]</a:t>
            </a:r>
          </a:p>
          <a:p>
            <a:pPr>
              <a:spcAft>
                <a:spcPts val="1200"/>
              </a:spcAft>
              <a:defRPr sz="1800"/>
            </a:pPr>
            <a:r>
              <a:t>10-21 好转出院 [cite: 189]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入院风险评估 [cite: 190-207]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血栓评分: 4分 (高危) [cite: 201, 207]</a:t>
            </a:r>
          </a:p>
          <a:p>
            <a:pPr>
              <a:spcAft>
                <a:spcPts val="1200"/>
              </a:spcAft>
              <a:defRPr sz="1800"/>
            </a:pPr>
            <a:r>
              <a:t>自理评估: 完全自理(100) [cite: 197, 203]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术前护理诊断 (1/2) [cite: 218-225]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1. 潜在并发症：产前出血 [cite: 219]</a:t>
            </a:r>
          </a:p>
          <a:p>
            <a:pPr>
              <a:spcAft>
                <a:spcPts val="1200"/>
              </a:spcAft>
              <a:defRPr sz="1800"/>
            </a:pPr>
            <a:r>
              <a:t>2. 躯体活动障碍/受伤风险 [cite: 221]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术前护理诊断 (2/2) [cite: 218-225]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3. 潜在并发症：血栓 [cite: 223]</a:t>
            </a:r>
          </a:p>
          <a:p>
            <a:pPr>
              <a:spcAft>
                <a:spcPts val="1200"/>
              </a:spcAft>
              <a:defRPr sz="1800"/>
            </a:pPr>
            <a:r>
              <a:t>4. 焦虑 (担心母婴预后) [cite: 225, 229]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产前出血护理措施 [cite: 238-245]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绝对卧床、避免增加腹压、Q4h监测宫缩 [cite: 242, 243]</a:t>
            </a:r>
          </a:p>
          <a:p>
            <a:pPr>
              <a:spcAft>
                <a:spcPts val="1200"/>
              </a:spcAft>
              <a:defRPr sz="1800"/>
            </a:pPr>
            <a:r>
              <a:t>应急演练：熟悉大出血抢救流程 [cite: 244]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肌无力安全防护 [cite: 254-260]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定时评估呼吸肌/吞咽肌 [cite: 259]</a:t>
            </a:r>
          </a:p>
          <a:p>
            <a:pPr>
              <a:spcAft>
                <a:spcPts val="1200"/>
              </a:spcAft>
              <a:defRPr sz="1800"/>
            </a:pPr>
            <a:r>
              <a:t>防跌倒标识，呼叫器触手可及 [cite: 258]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血栓高危护理 [cite: 269-276]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指导踝泵运动、使用医用弹力袜 [cite: 274]</a:t>
            </a:r>
          </a:p>
          <a:p>
            <a:pPr>
              <a:spcAft>
                <a:spcPts val="1200"/>
              </a:spcAft>
              <a:defRPr sz="1800"/>
            </a:pPr>
            <a:r>
              <a:t>皮下注射依诺肝素钠，每日测量腿围 [cite: 275, 276]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心理与信息支持 [cite: 285-291]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通俗解释 MDT 优势，建立家庭支持联盟 [cite: 290, 291]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手术详述 (10-16) [cite: 297, 299, 300]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腰硬联合麻醉下行子宫下段剖宫产术 [cite: 300, 301]</a:t>
            </a:r>
          </a:p>
          <a:p>
            <a:pPr>
              <a:spcAft>
                <a:spcPts val="1200"/>
              </a:spcAft>
              <a:defRPr sz="1800"/>
            </a:pPr>
            <a:r>
              <a:t>术中胎盘植入达浆膜层，手取胎盘 [cite: 297]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术中止血与转归 [cite: 297, 302]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出血量1000ml，输血2u红细胞+200ml血浆 [cite: 297, 302]</a:t>
            </a:r>
          </a:p>
          <a:p>
            <a:pPr>
              <a:spcAft>
                <a:spcPts val="1200"/>
              </a:spcAft>
              <a:defRPr sz="1800"/>
            </a:pPr>
            <a:r>
              <a:t>放置球囊压迫止血，术后转ICU [cite: 297]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术后转回病房评估 [cite: 308-332]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产后24h总出血 1125ml [cite: 309]</a:t>
            </a:r>
          </a:p>
          <a:p>
            <a:pPr>
              <a:spcAft>
                <a:spcPts val="1200"/>
              </a:spcAft>
              <a:defRPr sz="1800"/>
            </a:pPr>
            <a:r>
              <a:t>血红蛋白降至 73g/L，自理能力中度依赖 [cite: 311, 328]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术后护理挑战 (1/2) [cite: 343-352]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并发症预警：产后出血、肌无力危象 [cite: 344]</a:t>
            </a:r>
          </a:p>
          <a:p>
            <a:pPr>
              <a:spcAft>
                <a:spcPts val="1200"/>
              </a:spcAft>
              <a:defRPr sz="1800"/>
            </a:pPr>
            <a:r>
              <a:t>感染风险：手术创伤及导管 [cite: 346]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术后护理挑战 (2/2) [cite: 343-352]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母乳喂养困难、活动耐力下降 [cite: 348, 350]</a:t>
            </a:r>
          </a:p>
          <a:p>
            <a:pPr>
              <a:spcAft>
                <a:spcPts val="1200"/>
              </a:spcAft>
              <a:defRPr sz="1800"/>
            </a:pPr>
            <a:r>
              <a:t>营养失调：低于机体需要量 [cite: 352]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危象识别：护理重中之重 [cite: 372]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观察呼吸频率(快速浅呼吸)、锁骨上窝凹陷 [cite: 483]</a:t>
            </a:r>
          </a:p>
          <a:p>
            <a:pPr>
              <a:spcAft>
                <a:spcPts val="1200"/>
              </a:spcAft>
              <a:defRPr sz="1800"/>
            </a:pPr>
            <a:r>
              <a:t>单次呼吸计数测试 (低于15提示差) [cite: 483]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讨论：如何防范致命性产前出血？ [cite: 447, 458]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严密监测出血量、择期于孕36-37周手术 [cite: 452, 462]</a:t>
            </a:r>
          </a:p>
          <a:p>
            <a:pPr>
              <a:spcAft>
                <a:spcPts val="1200"/>
              </a:spcAft>
              <a:defRPr sz="1800"/>
            </a:pPr>
            <a:r>
              <a:t>多团队协作(产科/麻醉/新生儿/神内) [cite: 463]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讨论：MG 围术期管理核心 [cite: 469, 479]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使用 MG-ADL 量表量化评估症状 [cite: 470]</a:t>
            </a:r>
          </a:p>
          <a:p>
            <a:pPr>
              <a:spcAft>
                <a:spcPts val="1200"/>
              </a:spcAft>
              <a:defRPr sz="1800"/>
            </a:pPr>
            <a:r>
              <a:t>避免应用禁忌药物：静脉注射镁剂 [cite: 485, 498]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2025新版指南视角 [cite: 472, 473]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MSE (最小症状表达) 治疗目标：评分0-1分 [cite: 471]</a:t>
            </a:r>
          </a:p>
          <a:p>
            <a:pPr>
              <a:spcAft>
                <a:spcPts val="1200"/>
              </a:spcAft>
              <a:defRPr sz="1800"/>
            </a:pPr>
            <a:r>
              <a:t>激素剂量维持在 5-10mg/天 达标状态 [cite: 497]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03366"/>
                </a:solidFill>
              </a:defRPr>
            </a:pPr>
            <a:r>
              <a:t>病例小结：母婴平安 [cite: 499]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/>
            </a:pPr>
            <a:r>
              <a:t>精心护理与 MDT 紧密配合是成功的关键 [cite: 495, 499]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